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aleway" pitchFamily="2" charset="-52"/>
      <p:regular r:id="rId18"/>
    </p:embeddedFont>
    <p:embeddedFont>
      <p:font typeface="Roboto" panose="02000000000000000000" pitchFamily="2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42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4528"/>
            <a:ext cx="130184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Doodle Jump на Arcade: Разработка и Геймплей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69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Погрузитесь в мир разработки игр с Python и библиотекой Arcade. В этой презентации мы рассмотрим ключевые аспекты создания клона популярной игры Doodle Jump, исследуя игровую логику, физику и управление.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778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959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356890" y="5373232"/>
            <a:ext cx="16255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Сделали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356890" y="5809832"/>
            <a:ext cx="37773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Шведов Леонид и Егор Белоусов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8084A7-0088-CB47-35FC-D52214CED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63D903F-D9BA-EFD7-F799-E3577EF8C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5D53FE-B483-07CC-9467-4FE8C64B2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987" y="1251467"/>
            <a:ext cx="828675" cy="809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2 0.00598 C -0.00781 -0.05498 -0.00499 -0.11574 0.00977 -0.14333 C 0.02452 -0.17091 0.06066 -0.16571 0.07813 -0.15953 C 0.0956 -0.15336 0.10699 -0.13407 0.11458 -0.10629 C 0.12218 -0.07851 0.12283 -0.03569 0.1237 0.00713 " pathEditMode="relative" ptsTypes="AAA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431733"/>
            <a:ext cx="858083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499717"/>
            <a:ext cx="58590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ОБЗОР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94870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Архитектура Игры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114800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7720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Инициализация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57720" y="4605219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Установка основных параметров окна, фонового цвета и начальных игровых переменных.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4114800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9823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Настройка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199823" y="4605219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Загрузка спрайтов, создание начальных платформ и сброс игровых состояний для новой игры.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4114800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41925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Игровой Цикл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641925" y="4605219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Обработка ввода пользователя, обновление игровой логики, физики и отрисовка всех элементов.</a:t>
            </a:r>
            <a:endParaRPr lang="en-US" sz="17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BDECF71-C6E4-D945-2326-9BFCEB2966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361" y="623887"/>
            <a:ext cx="1592223" cy="425172"/>
          </a:xfrm>
          <a:prstGeom prst="roundRect">
            <a:avLst>
              <a:gd name="adj" fmla="val 1789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8092" y="691753"/>
            <a:ext cx="132076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ДЕТАЛИЗАЦИЯ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2361" y="1139428"/>
            <a:ext cx="4528066" cy="56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Класс `DoodleJump`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2361" y="2044303"/>
            <a:ext cx="130456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Центральный класс `DoodleJump` наследуется от `arcade.Window` и инкапсулирует всю игровую логику. От инициализации до обработки событий — все находится здесь.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2361" y="3248382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Атрибуты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2361" y="3828098"/>
            <a:ext cx="6246733" cy="325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SCREEN_WIDTH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SCREEN_HEIGHT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Размеры окна.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PLAYER_SCALE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Размер спрайта игрока.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gravity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jump_speed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move_speed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Физические параметры.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platform_width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platform_height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Размеры платформ.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min_gap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max_gap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Диапазон для расстояния между платформами.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player_x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player_y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player_velocity_y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Позиция и скорость игрока.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8926" y="3248382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8926" y="3828098"/>
            <a:ext cx="6246733" cy="180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Конструктор класса.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Настройка новой игры.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on_draw()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Отрисовка элементов на экране.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on_key_press()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on_key_release()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Обработка ввода.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on_update()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Обновление игровой логики.</a:t>
            </a:r>
            <a:endParaRPr lang="en-US" sz="175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EF8785E-C546-8B84-3343-47D103E2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773AFCD-A32B-DE33-74E2-D6C709A8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7357" y="665321"/>
            <a:ext cx="1903333" cy="400288"/>
          </a:xfrm>
          <a:prstGeom prst="roundRect">
            <a:avLst>
              <a:gd name="adj" fmla="val 1816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887135" y="730210"/>
            <a:ext cx="1643777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ИГРОВОЙ ПРОЦЕСС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7357" y="1148120"/>
            <a:ext cx="5771317" cy="54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Физика Игрока и Движение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57357" y="2184440"/>
            <a:ext cx="4247317" cy="206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Игрок постоянно подвергается воздействию гравитации (</a:t>
            </a:r>
            <a:r>
              <a:rPr lang="en-US" sz="1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self.gravity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что обеспечивает реалистичное падение. При столкновении с платформой игрок отскакивает вверх со скоростью </a:t>
            </a:r>
            <a:r>
              <a:rPr lang="en-US" sz="1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self.jump_speed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7357" y="4450913"/>
            <a:ext cx="3536752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Горизонтальное Движение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7357" y="4995505"/>
            <a:ext cx="4247317" cy="238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игроком осуществляется с помощью клавиш влево/вправо (A/D), изменяя </a:t>
            </a:r>
            <a:r>
              <a:rPr lang="en-US" sz="1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self.player_speed_x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Когда игрок достигает края экрана, он телепортируется на противоположную сторону, создавая ощущение бесконечного мира.</a:t>
            </a:r>
            <a:endParaRPr lang="en-US" sz="17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D9202FB-A915-E7E7-A5D2-5F22124DB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8902BC9-2C8A-EE64-BA23-BC9606AD5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300872"/>
            <a:ext cx="3071126" cy="94297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569A42E-732F-B2E5-D0E7-7999E219A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000" y="1983561"/>
            <a:ext cx="4014630" cy="366402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8CA7FA-C568-4538-98B5-EE7EB361A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500" y="6074939"/>
            <a:ext cx="5875529" cy="75444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860F49A-20AC-B6C9-4480-5965ED8C0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500" y="6885546"/>
            <a:ext cx="6508044" cy="830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35 0.0027 L -2.5E-6 -1.2345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519 0.00174 L 4.375E-6 -2.77778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8" y="-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29082"/>
            <a:ext cx="1259086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97067"/>
            <a:ext cx="986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МЕХАНИКА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46052"/>
            <a:ext cx="788384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Генерация и Обновление Платформ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6531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Платформы — ключевой элемент геймплея. Они генерируются динамически, обеспечивая бесконечный вертикальный мир.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3414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989189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163497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Создание Начальных Платформ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008245"/>
            <a:ext cx="4196358" cy="1822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create_initial_platforms()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создает платформы внизу и выше стартовой позиции игрока, чтобы обеспечить достаточную площадь для игры.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16962" y="363414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3989189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5216962" y="4163497"/>
            <a:ext cx="4083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Добавление Новых Платформ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6962" y="4653915"/>
            <a:ext cx="4196358" cy="145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add_platform()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размещает новую платформу по заданным координатам, выбирая случайный цвет для разнообразия.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640133" y="363414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989189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9640133" y="4163497"/>
            <a:ext cx="3160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Обновление Платформ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40133" y="4653915"/>
            <a:ext cx="4196358" cy="1822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update_platforms()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отвечает за удаление платформ, вышедших за пределы видимости игрока, и генерацию новых, постоянно расширяя игровое поле вверх.</a:t>
            </a:r>
            <a:endParaRPr lang="en-US" sz="175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25FBD43-D2D6-7E2C-C6A5-073C36FA0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5553753-7D44-807A-EC97-11162DBB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67915"/>
            <a:ext cx="1309687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435900"/>
            <a:ext cx="10375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ДИНАМИКА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88488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Камера и Скроллинг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7920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Динамическая камера следует за игроком, создавая ощущение движения вверх. Когда игрок поднимается, камера автоматически смещается, сохраняя игрока в нижней трети экрана.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7297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Этот механизм скроллинга имеет решающее значение для поддержания фокуса на игроке и создания ощущения непрерывного восхождения. Если игрок падает ниже определенной точки, камера также опускается, но только до значения 0, предотвращая прокрутку ниже начальной позиции.</a:t>
            </a:r>
            <a:endParaRPr lang="en-US" sz="17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CA37C4-4948-56CA-E73E-CCA7664E1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F61D743-A520-FA6A-D045-EDC683BFA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91759"/>
            <a:ext cx="1823085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59744"/>
            <a:ext cx="155090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ЭЛЕМЕНТЫ ИГРЫ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0872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Очки и Рекорды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1158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подсчета очков стимулирует игроков стремиться к новым высотам, а сохранение рекордов добавляет элемент соревновательности.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23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Подсчет Очков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9047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Очки начисляются за: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71755"/>
            <a:ext cx="6244709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Достижение новой максимальной высоты (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highest_y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Каждый успешный прыжок с платформы.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23636"/>
            <a:ext cx="32276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Управление Рекордами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904780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load_high_score()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Загружает предыдущий рекорд из файла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high_score.txt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save_high_score()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Сохраняет новый рекорд, если текущий счет превышает предыдущий.</a:t>
            </a:r>
            <a:endParaRPr lang="en-US" sz="17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0848C8-5D71-F0A3-7B6A-FEA899D0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033F8E3-FA20-4DA8-647D-5AAB1AAAC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1044191-13E2-42A9-65CD-78D8AA6F9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025" y="4430644"/>
            <a:ext cx="1120237" cy="6706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77528"/>
            <a:ext cx="1195149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45513"/>
            <a:ext cx="9229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ПРОГРЕСС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9449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Уровней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6016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Игра включает простую систему уровней, которая увеличивает сложность по мере того, как игрок набирает очки.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559850"/>
            <a:ext cx="4196358" cy="3492103"/>
          </a:xfrm>
          <a:prstGeom prst="roundRect">
            <a:avLst>
              <a:gd name="adj" fmla="val 419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52937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8" name="Shape 6"/>
          <p:cNvSpPr/>
          <p:nvPr/>
        </p:nvSpPr>
        <p:spPr>
          <a:xfrm>
            <a:off x="2551688" y="321968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2831068" y="331112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51084" y="4126825"/>
            <a:ext cx="29465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Уровень 1: Начальный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461724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Стандартные параметры гравитации, скорости прыжка и размеров платформ для комфортного старта.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16962" y="3559850"/>
            <a:ext cx="4196358" cy="3492103"/>
          </a:xfrm>
          <a:prstGeom prst="roundRect">
            <a:avLst>
              <a:gd name="adj" fmla="val 419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216962" y="352937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4" name="Shape 12"/>
          <p:cNvSpPr/>
          <p:nvPr/>
        </p:nvSpPr>
        <p:spPr>
          <a:xfrm>
            <a:off x="6974860" y="321968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7257812" y="331112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74256" y="4126825"/>
            <a:ext cx="30091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Переход на Уровень 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74256" y="461724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достижении 1000 очков игра автоматически переходит на следующий уровень.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3559850"/>
            <a:ext cx="4196358" cy="3492103"/>
          </a:xfrm>
          <a:prstGeom prst="roundRect">
            <a:avLst>
              <a:gd name="adj" fmla="val 419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40133" y="352937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98032" y="321968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11665387" y="328019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97427" y="4126825"/>
            <a:ext cx="31999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Уровень 2: Усложнение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97427" y="4617244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Параметры игры изменяются: увеличивается гравитация, уменьшается скорость прыжка и сокращается ширина платформ, делая игру более динамичной и требовательной.</a:t>
            </a:r>
            <a:endParaRPr lang="en-US" sz="175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43FF448-6625-03BD-1DBA-F0E6C3D0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5553D87-D55B-25F3-33CA-236F7A95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6D086D1-1CD2-4CB6-037F-2FAED6AAA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568" y="1540731"/>
            <a:ext cx="1151622" cy="72074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7406A40-73E2-1DB5-F95E-2707A8AEC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508" y="1540731"/>
            <a:ext cx="963601" cy="7207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502" y="829389"/>
            <a:ext cx="1550670" cy="412433"/>
          </a:xfrm>
          <a:prstGeom prst="roundRect">
            <a:avLst>
              <a:gd name="adj" fmla="val 1802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7256" y="895707"/>
            <a:ext cx="1285161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ОТОБРАЖЕНИЕ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4502" y="1328142"/>
            <a:ext cx="5972294" cy="55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Отрисовка Элементов Игры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74502" y="2205038"/>
            <a:ext cx="13081397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 </a:t>
            </a:r>
            <a:r>
              <a:rPr lang="en-US" sz="1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on_draw()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отвечает за визуализацию всех игровых объектов.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4502" y="3021092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Платформы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74502" y="3582591"/>
            <a:ext cx="6270784" cy="174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Отрисовываются только те платформы, которые находятся в пределах видимости камеры.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Используется </a:t>
            </a:r>
            <a:r>
              <a:rPr lang="en-US" sz="1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arcade.draw_lrbt_rectangle_filled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заполнения и </a:t>
            </a:r>
            <a:r>
              <a:rPr lang="en-US" sz="1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arcade.draw_lrbt_rectangle_outline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границ.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4502" y="547158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Игрок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74502" y="6033087"/>
            <a:ext cx="6270784" cy="104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Спрайт игрока позиционируется относительно камеры.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Отображается текущее направление игрока (поворот спрайта).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2735" y="3021092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GUI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592735" y="3582591"/>
            <a:ext cx="6270784" cy="104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Отображение текущего счета, высоты и уровня.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Экран "Игра окончена" с информацией о рекордах и опцией перезапуска.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92735" y="4826046"/>
            <a:ext cx="627078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</a:t>
            </a:r>
            <a:r>
              <a:rPr lang="en-US" sz="1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arcade.draw_text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позволяет легко выводить информацию на экран.</a:t>
            </a:r>
            <a:endParaRPr lang="en-US" sz="17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B2471C-16D3-B09A-9711-7557E604D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97F2438-5885-F1D4-E4F0-BFB16734F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190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Завершение Игры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025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Игра заканчивается, если игрок падает слишком низко за пределы видимости камеры.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20559"/>
            <a:ext cx="4196358" cy="3766066"/>
          </a:xfrm>
          <a:prstGeom prst="roundRect">
            <a:avLst>
              <a:gd name="adj" fmla="val 51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520559"/>
            <a:ext cx="121920" cy="282713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777853"/>
            <a:ext cx="3536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Определение Конца Игры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268272"/>
            <a:ext cx="3590330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self.player_y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опускается ниже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self.camera_offset_y - 100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игра считается оконченной.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520559"/>
            <a:ext cx="3939064" cy="3766066"/>
          </a:xfrm>
          <a:prstGeom prst="roundRect">
            <a:avLst>
              <a:gd name="adj" fmla="val 51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520559"/>
            <a:ext cx="121920" cy="282713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777853"/>
            <a:ext cx="34064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Сохранение Результатов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268272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Перед отображением экрана "Игра окончена", игра автоматически загружает и сохраняет рекорд, если текущий счет превысил предыдущий.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520559"/>
            <a:ext cx="4196358" cy="3766066"/>
          </a:xfrm>
          <a:prstGeom prst="roundRect">
            <a:avLst>
              <a:gd name="adj" fmla="val 51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520559"/>
            <a:ext cx="121920" cy="282713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777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Перезапуск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268272"/>
            <a:ext cx="3590330" cy="1822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экране "Игра окончена" игрок может нажать клавишу 'R' для перезапуска игры, возвращаясь к начальному состоянию через метод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80D2F7-0CD3-9CC1-DC2C-6454F856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772360"/>
            <a:ext cx="3071126" cy="4572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0E4E903-7907-BD1A-6DFC-F07A91BAE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274" y="7286625"/>
            <a:ext cx="3071126" cy="9429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0010681-1CA1-2938-3D11-D721F3464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4949" y="6218874"/>
            <a:ext cx="1798167" cy="89908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5DC5731-73F5-059C-6414-3F2A12623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085" y="6218874"/>
            <a:ext cx="2514818" cy="91447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B530F5B-72C9-930F-F4EC-6574A4074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8119" y="5418894"/>
            <a:ext cx="1987700" cy="1835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B560C9-1A0F-711D-7493-C729E01EA263}"/>
              </a:ext>
            </a:extLst>
          </p:cNvPr>
          <p:cNvSpPr/>
          <p:nvPr/>
        </p:nvSpPr>
        <p:spPr>
          <a:xfrm>
            <a:off x="4951690" y="258829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Спасибо за внимание!</a:t>
            </a:r>
            <a:endParaRPr lang="en-US" sz="3550" dirty="0"/>
          </a:p>
        </p:txBody>
      </p:sp>
      <p:sp>
        <p:nvSpPr>
          <p:cNvPr id="6" name="AutoShape 10" descr="Идеи на тему «Просто мемные смайлики» (23) | смайлики, эмодзи, мемы">
            <a:extLst>
              <a:ext uri="{FF2B5EF4-FFF2-40B4-BE49-F238E27FC236}">
                <a16:creationId xmlns:a16="http://schemas.microsoft.com/office/drawing/2014/main" id="{34AD7627-E4DB-A3ED-4C11-7EA849E59C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2457450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14" descr="Создать мем &quot;большие смайлики, мемные смайлы, смайлик не знаю&quot; - Картинки -  Meme-arsenal.com">
            <a:extLst>
              <a:ext uri="{FF2B5EF4-FFF2-40B4-BE49-F238E27FC236}">
                <a16:creationId xmlns:a16="http://schemas.microsoft.com/office/drawing/2014/main" id="{61AF4E81-F692-A937-05A5-F775EA54C3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1242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096B8B3-4AB2-F34C-B32C-0DA2FDF36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325" y="3486150"/>
            <a:ext cx="33337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2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859</Words>
  <Application>Microsoft Office PowerPoint</Application>
  <PresentationFormat>Произвольный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Roboto</vt:lpstr>
      <vt:lpstr>Arial</vt:lpstr>
      <vt:lpstr>Consolas</vt:lpstr>
      <vt:lpstr>Raleway</vt:lpstr>
      <vt:lpstr>Raleway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Леонид Шведов</cp:lastModifiedBy>
  <cp:revision>3</cp:revision>
  <dcterms:created xsi:type="dcterms:W3CDTF">2026-02-06T07:53:42Z</dcterms:created>
  <dcterms:modified xsi:type="dcterms:W3CDTF">2026-02-06T08:30:02Z</dcterms:modified>
</cp:coreProperties>
</file>